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9144000" cy="6858000" type="screen4x3"/>
  <p:notesSz cx="6858000" cy="9144000"/>
  <p:sldIdLst>
    <p:sldId id="256" r:id="rId1"/>
    <p:sldId id="257" r:id="rId2"/>
    <p:sldId id="258" r:id="rId3"/>
    <p:sldId id="259" r:id="rId4"/>
    <p:sldId id="260" r:id="rId5"/>
    <p:sldId id="261" r:id="rId6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8046720" cy="731520"/>
          </a:xfrm>
          <a:prstGeom prst="rect">
            <a:avLst/>
          </a:prstGeom>
        </p:spPr>
        <p:txBody>
          <a:bodyPr/>
          <a:lstStyle/>
          <a:p>
            <a:r>
              <a:rPr lang="id-ID" sz="3600" b="1"/>
              <a:t>Prediksi Kemiskinan Jawa Barat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731520" y="1371600"/>
            <a:ext cx="7680960" cy="457200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id-ID" sz="2200"/>
              <a:t>Nama Mahasiswa - NIM</a:t>
            </a:r>
          </a:p>
          <a:p>
            <a:pPr marL="342900" indent="-171450">
              <a:buChar char="•"/>
            </a:pPr>
            <a:r>
              <a:rPr lang="id-ID" sz="2200"/>
              <a:t>Pilar Smart City: Smart Governance / Smart Society</a:t>
            </a:r>
          </a:p>
          <a:p>
            <a:pPr marL="342900" indent="-171450">
              <a:buChar char="•"/>
            </a:pPr>
            <a:r>
              <a:rPr lang="id-ID" sz="2200"/>
              <a:t>UAS Machine Learning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8046720" cy="731520"/>
          </a:xfrm>
          <a:prstGeom prst="rect">
            <a:avLst/>
          </a:prstGeom>
        </p:spPr>
        <p:txBody>
          <a:bodyPr/>
          <a:lstStyle/>
          <a:p>
            <a:r>
              <a:rPr lang="id-ID" sz="3600" b="1"/>
              <a:t>Dataset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731520" y="1371600"/>
            <a:ext cx="7680960" cy="457200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id-ID" sz="2200"/>
              <a:t>Jumlah data: 324 baris</a:t>
            </a:r>
          </a:p>
          <a:p>
            <a:pPr marL="342900" indent="-171450">
              <a:buChar char="•"/>
            </a:pPr>
            <a:r>
              <a:rPr lang="id-ID" sz="2200"/>
              <a:t>Fitur: tahun, Gini Ratio, TPT, inflasi, IPM</a:t>
            </a:r>
          </a:p>
          <a:p>
            <a:pPr marL="342900" indent="-171450">
              <a:buChar char="•"/>
            </a:pPr>
            <a:r>
              <a:rPr lang="id-ID" sz="2200"/>
              <a:t>Target regresi: persentase kemiskinan</a:t>
            </a:r>
          </a:p>
          <a:p>
            <a:pPr marL="342900" indent="-171450">
              <a:buChar char="•"/>
            </a:pPr>
            <a:r>
              <a:rPr lang="id-ID" sz="2200"/>
              <a:t>Target klasifikasi: priority_level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8046720" cy="731520"/>
          </a:xfrm>
          <a:prstGeom prst="rect">
            <a:avLst/>
          </a:prstGeom>
        </p:spPr>
        <p:txBody>
          <a:bodyPr/>
          <a:lstStyle/>
          <a:p>
            <a:r>
              <a:rPr lang="id-ID" sz="3600" b="1"/>
              <a:t>Metode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731520" y="1371600"/>
            <a:ext cx="7680960" cy="457200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id-ID" sz="2200"/>
              <a:t>Preprocessing numerik dan StandardScaler</a:t>
            </a:r>
          </a:p>
          <a:p>
            <a:pPr marL="342900" indent="-171450">
              <a:buChar char="•"/>
            </a:pPr>
            <a:r>
              <a:rPr lang="id-ID" sz="2200"/>
              <a:t>Penambahan fitur target priority_level</a:t>
            </a:r>
          </a:p>
          <a:p>
            <a:pPr marL="342900" indent="-171450">
              <a:buChar char="•"/>
            </a:pPr>
            <a:r>
              <a:rPr lang="id-ID" sz="2200"/>
              <a:t>Regresi: Linear Regression, Decision Tree, Random Forest</a:t>
            </a:r>
          </a:p>
          <a:p>
            <a:pPr marL="342900" indent="-171450">
              <a:buChar char="•"/>
            </a:pPr>
            <a:r>
              <a:rPr lang="id-ID" sz="2200"/>
              <a:t>Klasifikasi: Logistic Regression, Decision Tree, Random Forest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8046720" cy="731520"/>
          </a:xfrm>
          <a:prstGeom prst="rect">
            <a:avLst/>
          </a:prstGeom>
        </p:spPr>
        <p:txBody>
          <a:bodyPr/>
          <a:lstStyle/>
          <a:p>
            <a:r>
              <a:rPr lang="id-ID" sz="3600" b="1"/>
              <a:t>Evaluasi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731520" y="1371600"/>
            <a:ext cx="7680960" cy="457200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id-ID" sz="2200"/>
              <a:t>Regresi terbaik: Linear Regression</a:t>
            </a:r>
          </a:p>
          <a:p>
            <a:pPr marL="342900" indent="-171450">
              <a:buChar char="•"/>
            </a:pPr>
            <a:r>
              <a:rPr lang="id-ID" sz="2200"/>
              <a:t>MAE 0.274, RMSE 0.333, R2 0.878</a:t>
            </a:r>
          </a:p>
          <a:p>
            <a:pPr marL="342900" indent="-171450">
              <a:buChar char="•"/>
            </a:pPr>
            <a:r>
              <a:rPr lang="id-ID" sz="2200"/>
              <a:t>Klasifikasi terbaik: Logistic Regression</a:t>
            </a:r>
          </a:p>
          <a:p>
            <a:pPr marL="342900" indent="-171450">
              <a:buChar char="•"/>
            </a:pPr>
            <a:r>
              <a:rPr lang="id-ID" sz="2200"/>
              <a:t>Accuracy 0.877, F1 0.878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8046720" cy="731520"/>
          </a:xfrm>
          <a:prstGeom prst="rect">
            <a:avLst/>
          </a:prstGeom>
        </p:spPr>
        <p:txBody>
          <a:bodyPr/>
          <a:lstStyle/>
          <a:p>
            <a:r>
              <a:rPr lang="id-ID" sz="3600" b="1"/>
              <a:t>Demo Aplikasi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731520" y="1371600"/>
            <a:ext cx="7680960" cy="457200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id-ID" sz="2200"/>
              <a:t>Jalankan: streamlit run app.py</a:t>
            </a:r>
          </a:p>
          <a:p>
            <a:pPr marL="342900" indent="-171450">
              <a:buChar char="•"/>
            </a:pPr>
            <a:r>
              <a:rPr lang="id-ID" sz="2200"/>
              <a:t>Input indikator sosial ekonomi</a:t>
            </a:r>
          </a:p>
          <a:p>
            <a:pPr marL="342900" indent="-171450">
              <a:buChar char="•"/>
            </a:pPr>
            <a:r>
              <a:rPr lang="id-ID" sz="2200"/>
              <a:t>Tampilkan prediksi, prioritas, dan rekomendasi</a:t>
            </a:r>
          </a:p>
          <a:p>
            <a:pPr marL="342900" indent="-171450">
              <a:buChar char="•"/>
            </a:pPr>
            <a:r>
              <a:rPr lang="id-ID" sz="2200"/>
              <a:t>Tampilkan dataset, grafik, evaluasi, dan confusion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548640" y="365760"/>
            <a:ext cx="8046720" cy="731520"/>
          </a:xfrm>
          <a:prstGeom prst="rect">
            <a:avLst/>
          </a:prstGeom>
        </p:spPr>
        <p:txBody>
          <a:bodyPr/>
          <a:lstStyle/>
          <a:p>
            <a:r>
              <a:rPr lang="id-ID" sz="3600" b="1"/>
              <a:t>Kesimpulan</a:t>
            </a:r>
          </a:p>
        </p:txBody>
      </p:sp>
      <p:sp>
        <p:nvSpPr>
          <p:cNvPr id="3" name="Content"/>
          <p:cNvSpPr>
            <a:spLocks noGrp="1"/>
          </p:cNvSpPr>
          <p:nvPr/>
        </p:nvSpPr>
        <p:spPr>
          <a:xfrm>
            <a:off x="731520" y="1371600"/>
            <a:ext cx="7680960" cy="4572000"/>
          </a:xfrm>
          <a:prstGeom prst="rect">
            <a:avLst/>
          </a:prstGeom>
        </p:spPr>
        <p:txBody>
          <a:bodyPr/>
          <a:lstStyle/>
          <a:p>
            <a:pPr marL="342900" indent="-171450">
              <a:buChar char="•"/>
            </a:pPr>
            <a:r>
              <a:rPr lang="id-ID" sz="2200"/>
              <a:t>Sistem membantu prioritas intervensi sosial berbasis data</a:t>
            </a:r>
          </a:p>
          <a:p>
            <a:pPr marL="342900" indent="-171450">
              <a:buChar char="•"/>
            </a:pPr>
            <a:r>
              <a:rPr lang="id-ID" sz="2200"/>
              <a:t>Manfaat: bantuan lebih tepat sasaran dan monitoring lebih cepat</a:t>
            </a:r>
          </a:p>
          <a:p>
            <a:pPr marL="342900" indent="-171450">
              <a:buChar char="•"/>
            </a:pPr>
            <a:r>
              <a:rPr lang="id-ID" sz="2200"/>
              <a:t>Risiko: prediksi salah dapat menyebabkan salah sasaran</a:t>
            </a:r>
          </a:p>
          <a:p>
            <a:pPr marL="342900" indent="-171450">
              <a:buChar char="•"/>
            </a:pPr>
            <a:r>
              <a:rPr lang="id-ID" sz="2200"/>
              <a:t>Pengembangan: dataset terbaru, peta wilayah, login, deploy online</a:t>
            </a:r>
          </a:p>
        </p:txBody>
      </p:sp>
    </p:spTree>
  </p:cSld>
  <p:clrMapOvr>
    <a:masterClrMapping/>
  </p:clrMapOvr>
</p:sld>
</file>